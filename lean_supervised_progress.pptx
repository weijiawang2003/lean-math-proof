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gen_v5 baseline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Curriculum all (30)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gen_v6 premise-augmented</c:v>
                </c:pt>
              </c:strCache>
            </c:strRef>
          </c:tx>
          <c:spPr>
            <a:solidFill>
              <a:srgbClr val="9F12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Curriculum all (30)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proved by beam search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Set.Basic
(116)</c:v>
                  </c:pt>
                  <c:pt idx="1">
                    <c:v>Finset.Basic
(231)</c:v>
                  </c:pt>
                  <c:pt idx="2">
                    <c:v>Nat.Defs
(208)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57</c:v>
                </c:pt>
                <c:pt idx="2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1280160"/>
            <a:ext cx="4937760" cy="493776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731520"/>
            <a:ext cx="3474720" cy="347472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&amp; Plan   ·   April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Lean-Supervised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9EC5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 Policy Learning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project where a language model proposes Lean proof steps and the Lean theorem prover supervises every one.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T5-small seq2seq policy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103K Lean-verified transitions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4297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curriculum  ·  36% full corpus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 idea, in plain language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word “Lean-supervised” matters — and what the rest of the deck is about.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theorem prover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cheapest,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honest supervisor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could ever give a model.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checks every tactic mechanically. It never grades with partial credit, never hallucinates approval, never gets tired. So “did this work?” is a free, perfectly calibrated signal — and that signal is what the whole pipeline is built around.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120640" y="1463040"/>
            <a:ext cx="352044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7800" y="1645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1755648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0" y="15727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943600" y="181051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grades thousands of beam-search attempts — 103K verified transitions now sit in our training pool.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120640" y="2514600"/>
            <a:ext cx="352044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57800" y="2697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7528" y="280720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43600" y="26243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943600" y="286207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seq2seq T5-small tactic generators on the survivors. Five checkpoints shipped (gen_v1 → gen_v5).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120640" y="3566160"/>
            <a:ext cx="352044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257800" y="37490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7528" y="385876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43600" y="36758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5943600" y="3913632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difficulty (easy → medium → hard); measure zero-shot transfer; retrain; repeat.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concrete theorem to anchor everything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example runs through the pipeline on the next two slides.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20624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THEOREM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Nat.mul_add_mod'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natural numbers a, b, c: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37490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· b + c) mod b   =   c mod 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a·b is a multiple of b, so it contributes nothing to a remainder mod b. All that's left is c mod b.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example?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Mathlib — a real theorem, not a toy.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reader can check the math in two lines.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proof state and tactic both fit on one screen.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in every tier we evaluate, so you'll see the same theorem later in the results.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Lean shows, what the model outputs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transition: proof state in, tactic out, Lean says yes or no.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937760" cy="1417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35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BEFORE   (what the prover shows 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 c d m n k : 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q : ℕ → Prop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b c : 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⊢ (a * b + c) % b = c % b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577840" y="2080260"/>
            <a:ext cx="411480" cy="0"/>
          </a:xfrm>
          <a:prstGeom prst="line">
            <a:avLst/>
          </a:prstGeom>
          <a:noFill/>
          <a:ln w="2857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35040" y="1371600"/>
            <a:ext cx="2560320" cy="1417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4356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PROPOSES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72200" y="1719072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 [Nat.add_mul_mod_self_left,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Nat.add_comm]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17520" y="2834640"/>
            <a:ext cx="0" cy="365760"/>
          </a:xfrm>
          <a:prstGeom prst="line">
            <a:avLst/>
          </a:prstGeom>
          <a:noFill/>
          <a:ln w="2857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383280" y="2834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applies the tactic and grades the result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8046720" cy="118872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61188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17320" y="341071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AFTER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417320" y="365760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finished  ·  no goals remaining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417320" y="4050792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says “ProofFinished” → this (state, tactic) pair becomes a labeled training example.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pipeline, end to end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is a script. The inner loop is search → dataset → train → rollout, with premise retrieval feeding both training and inference.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920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19202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</a:t>
            </a:r>
            <a:endParaRPr lang="en-US" sz="10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1645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over 171-tactic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space; Lean verifies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0292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all_traces.jsonl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350008" y="2103120"/>
            <a:ext cx="19202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60320" y="1234440"/>
            <a:ext cx="1920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60320" y="1234440"/>
            <a:ext cx="19202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2560320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</a:t>
            </a:r>
            <a:endParaRPr lang="en-US" sz="10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6459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progress;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→ tactic) pairs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65176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seq2seq_data_v5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498848" y="2103120"/>
            <a:ext cx="19202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4709160" y="1234440"/>
            <a:ext cx="1920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09160" y="1234440"/>
            <a:ext cx="19202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6"/>
          <p:cNvSpPr/>
          <p:nvPr/>
        </p:nvSpPr>
        <p:spPr>
          <a:xfrm>
            <a:off x="4709160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Train</a:t>
            </a:r>
            <a:endParaRPr lang="en-US" sz="10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164592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060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T5-small seq2seq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(≈60M params)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80060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project/models/gen_v5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647688" y="2103120"/>
            <a:ext cx="192024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6858000" y="1234440"/>
            <a:ext cx="19202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58000" y="1234440"/>
            <a:ext cx="19202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7" name="Text 22"/>
          <p:cNvSpPr/>
          <p:nvPr/>
        </p:nvSpPr>
        <p:spPr>
          <a:xfrm>
            <a:off x="6858000" y="12344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Rollout</a:t>
            </a:r>
            <a:endParaRPr lang="en-US" sz="10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660" y="164592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0" y="2194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Top-k=8 fallback;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grades each step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6949440" y="2651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metrics.json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411480" y="3291840"/>
            <a:ext cx="832104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594360" y="35661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685032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28016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Premise retriever</a:t>
            </a:r>
            <a:endParaRPr lang="en-US" sz="1500" dirty="0"/>
          </a:p>
        </p:txBody>
      </p:sp>
      <p:sp>
        <p:nvSpPr>
          <p:cNvPr id="35" name="Text 28"/>
          <p:cNvSpPr/>
          <p:nvPr/>
        </p:nvSpPr>
        <p:spPr>
          <a:xfrm>
            <a:off x="1280160" y="37947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mathlib lemmas + lemmas extracted from search traces. Retrieves top-k per state; used in both training (oracle-mixed) and inference (prompt-prepended).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669280" y="297180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headEnd type="triangle"/>
          </a:ln>
        </p:spPr>
      </p:sp>
      <p:sp>
        <p:nvSpPr>
          <p:cNvPr id="37" name="Shape 30"/>
          <p:cNvSpPr/>
          <p:nvPr/>
        </p:nvSpPr>
        <p:spPr>
          <a:xfrm>
            <a:off x="7818120" y="2971800"/>
            <a:ext cx="0" cy="32004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  <a:headEnd type="triangle"/>
          </a:ln>
        </p:spPr>
      </p:sp>
      <p:sp>
        <p:nvSpPr>
          <p:cNvPr id="38" name="Text 31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policy family today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a classifier, moved to a generative seq2seq model, tried premise augmentation, and are planning strategic reasoning on top of a larger base.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11480" y="1280160"/>
            <a:ext cx="2011680" cy="3474720"/>
          </a:xfrm>
          <a:prstGeom prst="rect">
            <a:avLst/>
          </a:prstGeom>
          <a:solidFill>
            <a:srgbClr val="FFFFFF"/>
          </a:solidFill>
          <a:ln w="22225">
            <a:solidFill>
              <a:srgbClr val="0E74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1737360" cy="2926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one of 179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0632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over a fixed tactic label set. Fast and stable, but the closed vocabulary caps everything it can ever do.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baseline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441448" y="3017520"/>
            <a:ext cx="10058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560320" y="1280160"/>
            <a:ext cx="2011680" cy="3474720"/>
          </a:xfrm>
          <a:prstGeom prst="rect">
            <a:avLst/>
          </a:prstGeom>
          <a:solidFill>
            <a:srgbClr val="FFFFFF"/>
          </a:solidFill>
          <a:ln w="22225">
            <a:solidFill>
              <a:srgbClr val="7E22C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97480" y="1417320"/>
            <a:ext cx="1737360" cy="292608"/>
          </a:xfrm>
          <a:prstGeom prst="rect">
            <a:avLst/>
          </a:prstGeom>
          <a:solidFill>
            <a:srgbClr val="7E22CE"/>
          </a:solidFill>
          <a:ln/>
        </p:spPr>
      </p:sp>
      <p:sp>
        <p:nvSpPr>
          <p:cNvPr id="15" name="Text 12"/>
          <p:cNvSpPr/>
          <p:nvPr/>
        </p:nvSpPr>
        <p:spPr>
          <a:xfrm>
            <a:off x="2697480" y="1417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 v5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82880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69748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any tactic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697480" y="30632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T5-small (≈60M params). Beam-decodes a free-form tactic string from the proof state — no label ceiling.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697480" y="4251960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69748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SOTA · 25/30 (83%)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90288" y="3017520"/>
            <a:ext cx="10058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4709160" y="1280160"/>
            <a:ext cx="2011680" cy="3474720"/>
          </a:xfrm>
          <a:prstGeom prst="rect">
            <a:avLst/>
          </a:prstGeom>
          <a:solidFill>
            <a:srgbClr val="FFFFFF"/>
          </a:solidFill>
          <a:ln w="22225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46320" y="1417320"/>
            <a:ext cx="1737360" cy="2926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4" name="Text 20"/>
          <p:cNvSpPr/>
          <p:nvPr/>
        </p:nvSpPr>
        <p:spPr>
          <a:xfrm>
            <a:off x="4846320" y="1417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PREMISE-AUG v6</a:t>
            </a:r>
            <a:endParaRPr lang="en-US" sz="1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828800"/>
            <a:ext cx="640080" cy="64008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4632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hints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846320" y="30632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T5-small, but the prompt is prefixed with retrieved relevant lemmas. Idea: cue the generator toward the right tactic.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4846320" y="4251960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9F123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4632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result · 19/30 (63%)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6739128" y="3017520"/>
            <a:ext cx="100584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6858000" y="1280160"/>
            <a:ext cx="2011680" cy="3474720"/>
          </a:xfrm>
          <a:prstGeom prst="rect">
            <a:avLst/>
          </a:prstGeom>
          <a:solidFill>
            <a:srgbClr val="FFFFFF"/>
          </a:solidFill>
          <a:ln w="22225">
            <a:solidFill>
              <a:srgbClr val="BE123C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995160" y="1417320"/>
            <a:ext cx="1737360" cy="29260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3" name="Text 28"/>
          <p:cNvSpPr/>
          <p:nvPr/>
        </p:nvSpPr>
        <p:spPr>
          <a:xfrm>
            <a:off x="6995160" y="14173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</a:t>
            </a:r>
            <a:endParaRPr lang="en-US" sz="100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828800"/>
            <a:ext cx="640080" cy="6400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9516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Plan, then act</a:t>
            </a:r>
            <a:endParaRPr lang="en-US" sz="1500" dirty="0"/>
          </a:p>
        </p:txBody>
      </p:sp>
      <p:sp>
        <p:nvSpPr>
          <p:cNvPr id="36" name="Text 30"/>
          <p:cNvSpPr/>
          <p:nvPr/>
        </p:nvSpPr>
        <p:spPr>
          <a:xfrm>
            <a:off x="6995160" y="306324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reasoning + cross-field translation + premise templates wrapping a larger base model.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6995160" y="4251960"/>
            <a:ext cx="1737360" cy="365760"/>
          </a:xfrm>
          <a:prstGeom prst="rect">
            <a:avLst/>
          </a:prstGeom>
          <a:solidFill>
            <a:srgbClr val="F1F5F9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995160" y="4251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— needs t5-base first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policy is loadable at rollout time via --policy-type; the same eval harness runs all four — v5 and v6 already have numbers (next slides).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Planned direction — the Strategic policy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wrapper that adds proof-engineering know-how around any base policy. Kicks in once the base model has enough capacity to benefit (t5-base and up).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4297680" cy="109728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548640" cy="548640"/>
          </a:xfrm>
          <a:prstGeom prst="ellipse">
            <a:avLst/>
          </a:prstGeom>
          <a:solidFill>
            <a:srgbClr val="BE12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184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173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Backward reasoning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7373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picking a tactic, try `suffices` / `have` templates that reframe the goal into something the base policy can close.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2514600"/>
            <a:ext cx="4297680" cy="109728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8072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6060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Cross-field translation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25880" y="2926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domain (Set, Finset, Nat, …) and rewrites the goal into a friendlier form — e.g. `ext x; simp` pushes Set goals into logic.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703320"/>
            <a:ext cx="4297680" cy="109728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9959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7947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Premise templates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325880" y="41148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retriever's top-k premises to instantiate canned templates like `simp [...]` or `apply ...` before asking the base policy.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029200" y="1325880"/>
            <a:ext cx="3657600" cy="3474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5"/>
          <p:cNvSpPr/>
          <p:nvPr/>
        </p:nvSpPr>
        <p:spPr>
          <a:xfrm>
            <a:off x="5212080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&amp; MERGE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212080" y="1783080"/>
            <a:ext cx="3291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state, goal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strategic candidates  (40% weight)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base-policy candidates  (60% weight)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 → sort by score → top-k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rollout tries them in order;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Lean confirms which works.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dive — Premise retrieval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ReProver-inspired. Give the model a shortlist of lemmas that are likely relevant. Used at both training and inference.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SOURCE #1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62763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Lemmas parsed from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traces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(`simp [X]`, `rw [L]` …)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011680" cy="10058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SOURCE #2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81635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mathlib catalog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lemmas / domain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(Set, Nat, Finset, …)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17520" y="1737360"/>
            <a:ext cx="2743200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PremiseRetriever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21488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overlap  +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fallback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top-k per state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87168" y="1783080"/>
            <a:ext cx="512064" cy="54864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87168" y="2971800"/>
            <a:ext cx="512064" cy="-18288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309360" y="128016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3716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TIME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46520" y="16459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premises (from target tactic) mixed 50/50 with retrieved premises — teaches the seq2seq to tolerate retrieval noise.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560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46520" y="281635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PremiseAugmentedPolicy prepends `Relevant premises: …` to the prompt before the generator decodes a tactic.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60720" y="2148840"/>
            <a:ext cx="530352" cy="-274320"/>
          </a:xfrm>
          <a:prstGeom prst="line">
            <a:avLst/>
          </a:prstGeom>
          <a:noFill/>
          <a:ln w="22225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760720" y="2606040"/>
            <a:ext cx="530352" cy="3657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3886200"/>
            <a:ext cx="818388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expected  —  what we got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42519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ReProver (2023) showed retriever-augmented generators prove 2–3× more theorems. At our scale (T5-small, ≈60M params vs ReProver’s 299M) premise injection was net-negative: 25/30 → 19/30 on the same curriculum. Conclusion: capacity — not information — is the current bottleneck.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learning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small and easy, generalize, then reinforce with the new data. Five stages, one command (`run_curriculum.py`).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63040"/>
            <a:ext cx="1005840" cy="2926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783080" y="1417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theorems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Set.union_comm, Nat.mul_add_mod', … — one or two tactic steps.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2968" y="201168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32588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463040"/>
            <a:ext cx="1005840" cy="2926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26280" y="1417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832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theorems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1671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subset/distrib laws, Set.diff_*, Set.ite_univ — small compositions.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16168" y="2011680"/>
            <a:ext cx="5486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89320" y="1325880"/>
            <a:ext cx="26517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12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463040"/>
            <a:ext cx="1005840" cy="29260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4630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69480" y="1417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126480" y="1874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theorems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1671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Finset.mem_*, Finset.disjoint_*, … — involves coercion &amp; membership.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five-stage loop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273552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Beam-search Tier 1 (width 24, depth 6) in Lean → verified traces.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602736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357530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T5-small seq2seq on Tier 1 (state → tactic) pairs.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" y="3904488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zero-shot on Tier 2 — generalization signal.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4261104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61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42336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Beam-search Tier 2 with model-seeded priors → grow the trace pool.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48640" y="4590288"/>
            <a:ext cx="274320" cy="2743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590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4562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merged Tier 1 + 2 data → evaluate across all tiers.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— curriculum + full corpus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v5 baseline vs v6 premise-augmented on the 30-theorem curriculum. Right: oracle coverage across all 555 theorems via beam search.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514600" cy="3291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83%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 theorems proved by gen_v5.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CORPUS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6118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555 theorems proved by beam-search oracle across 3 mathlib files.</a:t>
            </a:r>
            <a:endParaRPr lang="en-US" sz="10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3246120" y="1325880"/>
          <a:ext cx="27889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3246120" y="30175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Premise injection hurt at T5-small scale. Details next slide.</a:t>
            </a:r>
            <a:endParaRPr lang="en-US" sz="95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6172200" y="1325880"/>
          <a:ext cx="260604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10"/>
          <p:cNvSpPr/>
          <p:nvPr/>
        </p:nvSpPr>
        <p:spPr>
          <a:xfrm>
            <a:off x="6172200" y="301752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Nat.Defs is the frontier: induction / ring-style proofs that beam-search rarely finds.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46120" y="3429000"/>
            <a:ext cx="5532120" cy="1234440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29000" y="3520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these two numbers together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29000" y="3822192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= how well the trained policy plays a hand-picked test set (top-k=8 rollout, max 8 steps).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corpus = how many theorems we have any verified proof for at all — this is our training pool ceiling.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matter: to raise the curriculum number we need a better model; to raise the corpus number we need more/better search.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capacity lesson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training data, same eval. The only change was prepending retrieved lemmas to the prompt. Six Set-subset theorems v5 solved fell over in v6.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3246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BY v5, LOST BY v6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Set.subset_univ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Set.empty_subset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Set.subset_union_left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Set.subset_union_right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Set.inter_subset_left</a:t>
            </a:r>
            <a:endParaRPr lang="en-US" sz="12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Set.inter_subset_right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is a single-tactic proof (`aesop` / `simp`) that v5 closed in one step.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Why: capacity, not information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828800"/>
            <a:ext cx="137160" cy="77724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828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got ≈40 tokens longer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83480" y="212140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“Relevant premises: …” prefix pushes a small model’s representation budget past what it can decode cleanly.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137160" cy="77724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model, not a dumb model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30815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T5-small has ≈60M params. ReProver — whose result inspired this experiment — used 299M. That gap matters.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137160" cy="777240"/>
          </a:xfrm>
          <a:prstGeom prst="rect">
            <a:avLst/>
          </a:prstGeom>
          <a:solidFill>
            <a:srgbClr val="9F1239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37490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cure is more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40416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same experiment on t5-base (220M). Hypothesis: at that size, premise injection flips from hurtful to helpful.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— three phases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grows the training pool. Phase 2 scales the model so premise retrieval stops hurting. Phase 3 is when strategic reasoning finally pays off.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8138160" cy="84124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80160"/>
            <a:ext cx="73152" cy="84124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389888"/>
            <a:ext cx="10972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74520" y="1362456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the oracle — search the remaining 355 theorems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874520" y="1664208"/>
            <a:ext cx="53949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strategic_v5 beam search (induction / cases templates, expanded premise hints) on the 355 theorems we have no proof for. Biggest opportunity: Nat.Defs (currently 6/208).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06640" y="13898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67128"/>
            <a:ext cx="8138160" cy="84124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167128"/>
            <a:ext cx="73152" cy="84124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276856"/>
            <a:ext cx="109728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2768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74520" y="2249424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base model — t5-small → t5-base (220M)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874520" y="2551176"/>
            <a:ext cx="53949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from scratch on Phase-1 data. Re-run the v6 premise-augmentation experiment: prediction is that with ≈4× the capacity, the prompt-prefix cost is absorbed and injection turns net-positive.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06640" y="227685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054096"/>
            <a:ext cx="8138160" cy="84124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054096"/>
            <a:ext cx="73152" cy="841248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163824"/>
            <a:ext cx="1097280" cy="27432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638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74520" y="3136392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+ backward reasoning at scale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874520" y="3438144"/>
            <a:ext cx="53949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the strategic policy (backward `suffices`/`have`, cross-field translation, premise templates) on the larger base. Target: open-set proofs that beam-search alone never finds.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06640" y="31638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8+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41064"/>
            <a:ext cx="8138160" cy="841248"/>
          </a:xfrm>
          <a:prstGeom prst="rect">
            <a:avLst/>
          </a:prstGeom>
          <a:solidFill>
            <a:srgbClr val="F1F5F9"/>
          </a:solidFill>
          <a:ln w="762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941064"/>
            <a:ext cx="73152" cy="84124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050792"/>
            <a:ext cx="1097280" cy="27432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50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CROSSCUT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74520" y="4023360"/>
            <a:ext cx="5394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Lean in the loop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874520" y="4325112"/>
            <a:ext cx="5394960" cy="429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phase still trains only on transitions Lean has verified. No synthetic data, no self-labeled rollouts in the training pool — the supervision signal stays cheap and perfectly calibrated.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405079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i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13816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Lean-Supervised Tactic Policy Learning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389120" cy="438912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37160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TL;DR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T5-small + Lean supervision proves 83% of our curriculum; scale is the next frontier.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606040" cy="1600200"/>
          </a:xfrm>
          <a:prstGeom prst="rect">
            <a:avLst/>
          </a:prstGeom>
          <a:solidFill>
            <a:srgbClr val="065A82">
              <a:alpha val="70000"/>
            </a:srgbClr>
          </a:solidFill>
          <a:ln w="6350">
            <a:solidFill>
              <a:srgbClr val="9EC5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Beam-search in Lean → verified (state, tactic) pairs → T5-small seq2seq → top-k rollout Lean verifies again.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834640"/>
            <a:ext cx="2606040" cy="1600200"/>
          </a:xfrm>
          <a:prstGeom prst="rect">
            <a:avLst/>
          </a:prstGeom>
          <a:solidFill>
            <a:srgbClr val="065A82">
              <a:alpha val="70000"/>
            </a:srgbClr>
          </a:solidFill>
          <a:ln w="6350">
            <a:solidFill>
              <a:srgbClr val="9EC5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gen_v5: 25/30 (83%) on curriculum; 200/555 (36%) oracle coverage; gen_v6 premise-aug underperformed at this scale.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2834640"/>
            <a:ext cx="2606040" cy="1600200"/>
          </a:xfrm>
          <a:prstGeom prst="rect">
            <a:avLst/>
          </a:prstGeom>
          <a:solidFill>
            <a:srgbClr val="065A82">
              <a:alpha val="70000"/>
            </a:srgbClr>
          </a:solidFill>
          <a:ln w="6350">
            <a:solidFill>
              <a:srgbClr val="9EC5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97180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3291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grow the training pool; Phase 2 scale to t5-base (220M); Phase 3 layer in strategic reasoning.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EC5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questions:  cost/benefit of t5-base retrain   ·   neural retriever vs. the hand-written one   ·   Nat.Defs proof templates.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Lean-Supervised Tactic Policy Learning</dc:title>
  <dc:subject>PptxGenJS Presentation</dc:subject>
  <dc:creator>Project progress + plan</dc:creator>
  <cp:lastModifiedBy>Project progress + plan</cp:lastModifiedBy>
  <cp:revision>1</cp:revision>
  <dcterms:created xsi:type="dcterms:W3CDTF">2026-04-21T23:10:02Z</dcterms:created>
  <dcterms:modified xsi:type="dcterms:W3CDTF">2026-04-21T23:10:02Z</dcterms:modified>
</cp:coreProperties>
</file>